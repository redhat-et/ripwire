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"25 vendored tree-sitter grammars" — CHANGELOG.md [0.6.2], "### Added — GDScript (`.gd`), the 25th vendored grammar (parser version 108)", PR #233 ("Thanks to @sclyde."). README.md on main a5229aca: "25 vendored grammars"; third_party/deps/ holds 24 grammar projects, tree-sitter-typescript supplying two (typescript and tsx). Astro (#320) adds no grammar: it rides the TypeScript one.
- Before GDScript: 24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"25 vendored grammars", GDScript and Astro in the language row — CHANGELOG.md [0.6.2] "### Added — GDScript (`.gd`), the 25th vendored grammar (parser version 108)" (#233, @sclyde); CHANGELOG.md [0.6.4] "### Added — Astro (`.astro`) frontmatter is indexed on the TypeScript grammar (#320, #67)". The language row wraps to three lines at 12 pt; check it is not clipped in the render.
- Before GDScript: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(0.6.1 at a glance). Window: after the v0.6.0 tag through the 0.6.1 release commit. Every PR cited here is MERGED as of 2026-09-14; verified with gh pr view --json state.
TITLE: the release's own theme. 0.6.0's slide was 'faster where it hurt, clearer where it stops'; this round's work was routing and shape rather than ranking, and three of its four quadrants are honesty, so the title says so.
LANGUAGES
- Elixir: #207, from issue #81, lane by @henry-hz. Parser version 95. 'Calls resolve to the module, name and arity they name, instead of by name alone: lexical aliases, filtered imports, default arguments, pipes, captures and delegates.' Nested modules and each target of a multi-target defimpl have separate identities. LIMITS, documented as such and NOT claimed fixed: macro expansion, __using__, and calls inside unquote(...) / bind_quoted:.
- SCIP: #198, by @dpunosevac. 'SCIP writers encode an occurrence's range in one of two ways, and ripwire read only the deprecated one, so every index scip-java writes was silently ignored and --scip changed nothing. It now reads the typed form first, as scip.proto asks. On spring-petclinic the precise overlay went from no matches to 79% of occurrences.' The corpus is named on the slide because the figure is corpus-specific.
IT SAYS WHAT IT COULD NOT PROVE
- 89 of 4,322: #173. 'On ripwire's own tree, over every file:name selector whose selection is all declarations, the binary after #173 shrank 89 of 4,322 answers compared with the one before it, and grew none.' The population is the whole selector set, not a sample, which is why the claim can be one-directional.
- The defect #173 fixed: the widening matched on the name and the enclosing scope, and that scope drops namespaces, so --callers=a/Store.h:putObject counted callB in b/Store.cpp, a caller of a DIFFERENT Store, and a free function matched on its name alone.
- nine listing verbs: #190, #195 — unproven_defs= on --callers, --callees, --impact, --safe-delete, --path, --uses, --mentions, --verify and --affected. 'all but the first two had answered from the declaration alone and printed a clean zero'.
- incompatible="0": #210 — 'on every verb that resolves a focus symbol at all, --edit-check included, where an incompatible="0" beside unproven_defs= is now stated to be an incomplete read rather than a safe edit'.
EVERY NUMBER CARRIES ITS DEFINITION
- graph_unindexed=: #169 — shipped in 0.6.0 with no definition on --lego, --verify and --nonlocal-state, and under --legend=compact on every XML verb except --connect.
- the eight more, and the pins: #185, #189, #203. 'each is defined now, and the compact pins follow the definitions rather than the definitions being trimmed to fit one pin'.
- the budgeted --for: #174 — 'A budgeted --for that drops legend clauses to fit its allowance now names the attributes whose definitions it dropped.'
LLVM SCALE
- 114 MB → 368 KB: #208. 'The call graph keeps, for every call the resolver declines to bind, the list of candidates it declined between. Those lists were stored once per call, so the structure grew with calls x candidates: 27.9 M entries, 114 MB, on llvm-project. One stored copy per distinct list makes that 9,879 distinct lists and 62,359 entries - 368 KB - with every count and every byte of output unchanged.'
- The second row exists so the slide cannot be read as an output change. It is a structure change with byte-identical output, and saying so is the point.
FOOTER (the instruments). From the release notes' Highlights: 'Three readouts, all registered before the work began, and none of them a model's opinion. A frozen bank of 30 retrieval questions, each answered in ONE call on a 2,066-file C++ corpus pinned at one commit, scored on the gold files the question's answer must name. A follow-up ladder over the same bank: six deterministic steps per tool, no model in the loop... And a held-out draw registered separately, so a round cannot be tuned onto the bank it is graded on.'
NOT ON THIS SLIDE, DELIBERATELY: no competitor is named and no comparison is drawn (no head-to-head round has been re-run since this slide was written, and none is drawn here); no flag is named that the shipped --help does not carry (deckcheck); and the shape/routing figures are on the companion slide because they are re-measured on the instruments rather than argued from per-verb byte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(since 0.6.1). Window: after the v0.6.1 tag (2026-09-14) through main a5229aca (merge of #365, 2026-09-30): CHANGELOG.md [0.6.2] to [0.6.5], and [Unreleased] for what main carries into the next release.
LEFT OUT, DELIBERATELY: skill scanning (not a central feature of the tool), any head-to-head figure (none re-measured), and per-verb byte counts.
WHERE AND HOW IT RUNS
- Windows x64: CHANGELOG [0.6.2] '### Added — native Windows x64 (clang-cl, MSVC ABI), behind src/infra/os.h — thanks to @lennix1337 (#44)' and '### Added — Microsoft's cl.exe builds the tree, so both Windows front ends compile and both gate'; CHANGELOG [0.6.3] '### Added — a Windows x64 release asset (preview)'. The caveat is README.md's platform row: the gate suite does not run on Windows, and ASan is compiled there but never executed.
- --lsp: CHANGELOG [0.6.2], '--lsp — a read-only navigation LSP server over stdio (Phase 1)': definition, references, documentSymbol, workspace symbol and hover. 'Thanks to @mpapis.'
- Memory guard: CHANGELOG [Unreleased] '### Added — a memory guard on every root: zero-config, silent on normal runs, a disclosed partial answer past its line (#350, layer 3)', merged with #363 (b90547fa). 'The limit is 65% of the machine's memory (physical RAM, or the cgroup v2 memory.max when lower); --max-memory=N[K|M|G] or RIPWIRE_MAX_MEMORY replaces it'; past the limit 'ripwire exits 5 (new exit code)'.
BETTER ANSWERS
- Function-literal bodies: CHANGELOG [Unreleased] '### Fixed — a name bound to a function literal has a body: no more false bodyless_defs, and quality verbs measure it' (merge 48279226). The CHANGELOG states '--biggest-first, --ensemble and --quality-panel measure 2,083 functions (was 63)' on 'a 583-file TypeScript agent repo'. Re-measured for this slide on the merged binary: 63 → 2,083 over 583 files.
- --metrics: CHANGELOG [Unreleased] '### Changed — --metrics prints one row per definition' (merge 2df0de0a): overloads and a function defined in several #ifdef branches each get their own row with l=. Gate: test/metricscheck.sh.
- Ruby: CHANGELOG [Unreleased] '### Added — Ruby has inheritance edges: class Child &lt; Parent reaches the lego view and the resolver's base walk' (PR #325, merge d38a0e36) and '### Added — RSpec's described_class is the class its example group names, so a spec's calls pin to the class under test (#338)' (merge 3418eba6). Both PRs were contributed by @andriytyurnikov.
- vue-core: CHANGELOG [0.6.2] '### Fixed — a call written outside every named function now has a caller' (#60): 'Measured before the change with the pin census, as the share of call sites with no caller node: 72.8% of vue-core'. A dated pre-change figure from a committed instrument, so it is not re-measured.
HONEST ANSWERS
- rank, then cut: CHANGELOG [0.6.3] '### Changed — --callers, --uses and the --impact import tier rank before they cap' and '### Fixed — body packing, --outline and --pack-signatures rank before they cut, and every cut is named'; CHANGELOG [Unreleased] '### Fixed — three answers that cut silently now say what they left out' (merge ac65b668).
- shallow: CHANGELOG [Unreleased] '### Fixed — the history verbs say so when a clone is shallow' (merge b5ef8317): --owners, --hotspots and --cochange carry shallow="1"; --quality-delta=REV on the boundary commit says it is a shallow clone, not a root commit.
- five false answers: CHANGELOG [Unreleased], merge 1e77b647 — '--flags reads JavaScript and TypeScript process.env switches' (it had answered gates="0" env="0"), '--doc-drift: three false drifts on a Python repository', '--from-trace no longer pairs one file's line with another file's definition in next=', '--connect searches a many-definition terminal from the definition that joins', '--dead-code no longer reports a pytest test method as an internal-linkage orphan'.
QUALITY YOU CAN ACT ON
- placeholder: CHANGELOG [Unreleased] '### Added — --quality-delta placeholder kind (the eleventh): stubs and TODOs a change adds' (merge f6d6cf05): 'Every row is origin="new-symbol" and never gates'.
- --impact depth: CHANGELOG [Unreleased] '### Changed — --impact lists the blast radius nearest first, with its hop depth' (merge 83f30561): rows run by hop depth first, the order is applied before the window cuts, and by_depth= counts reaches= per depth. Gate: test/impactdepthcheck.sh.
- --mcp-tools: CHANGELOG [Unreleased] '### Added — --mcp-tools=LIST: the MCP server can list a subset of its tools' (merge 89f6beb6). The core profile is explore, batch, from_trace, impact, uses, fetch_body, edit_check and quality_delta (8); 'With no flag, or --mcp-tools=full, every byte the server sends is unchanged.'
FOOTER: CHANGELOG [Unreleased] '### Changed — the versions this release moves, stated once': kParserVer 124 → 129, kCacheVersion 25 → 27; 'Every ingest cache written by an earlier build is refused and re-indexed once'. src/ingest_cache.h on main a5229aca: kParserVer = 129, kCacheVersion =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a5229aca prints files=189 symbols=8020 edges=23968 ambiguous=8947 unresolved=1956 declined=7418 (warm and --no-cache identical). On main 40a1895b (2026-09-11) it read files=166 symbols=5778 edges=17150 ambiguous=7441 unresolved=1658 declined=4803.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answered defs="1" count="6" counts_floor="1", with runEval and rankGraph as its first two rows, on main 40a1895b. On main a5229aca: defs="1" count="7" counts_floor="1", with getIndex and rankGraph as its first two rows (a seventh caller, getIndex in src/mcpindex.h, joined since 40a1895b; the slide sample shows the a5229aca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The nine agents after `wrap`: src/wrap.h's agent table on main a5229aca — claude, codex, cursor, windsurf, gemini, opencode, openclaw, hermes, aider. This line named six until 2026-09-30. On the merged binary, `ripwire wrap --help`: names the same nine (CLI-first: claude, codex, opencode, openclaw, hermes; MCP config: cursor, windsurf, gemini; repo-map: aider).
- “33 MCP verbs … 17 read verbs … 13 flagship reflexes … 3 span-addressed edit verbs” — README.md, lane/t10-mcp-coverage: “One stdio server, 33 verbs — 17 read, 13 flagship-reflex, 3 span-addressed edit” (rank_by and affected joined the MCP surface, matching the CLI --rank-by / --affected twins).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(in the field). README.md on main a5229aca, the collapsed 'Field report' section and its text version — merged: #361 (merge commit 99dc46eb). The README labels it: 'The model's own report of one engagement, on a version before 0.5; not a controlled measurement. Controlled measurements are in docs/EVALS.md.' This slide carries the same three labels: one engagement, the agent's own report, an older version.
WHY NO NUMBERS: the 'Claims you can trust' slide states that no number on this deck lacks a committed instrument behind it. The report's figures (its token-spend estimate, per-call factors, call-site counts, defect counts, agent counts, codebase size) are testimony with no committed instrument, so none is quoted here. The outcomes are.
- --callers card: the report, 'Two tasks had their direction changed by a single call': a task 'chartered to activate a steering behavior the team believed was in production'; one --callers query 'redirecting the task to the real gap (the data provider that behavior needed had never been wired anywhere)'.
- --edit-check card: the same paragraph: a task that 'refactored a widely-shared computation'; --edit-check flagged call sites 'a text search had missed' that 'would otherwise have silently diverged from the canonical path the day the feature was enabled'.
- --quality-delta card: 'all caught by --quality-delta at each agent's "I think I'm done" moment' (a duplicated routine, a hand-duplicated cost function, near-identical functions with a flipped sign); and 'The quality gate as a protocol': agents 'none sharing context, all converged on the same "fix or justify with a written reason" discipline'.
- The boundary card: 'The honest boundary' — 'The engagement's deepest findings did not come from the tool' but from 'bespoke measurement the agents built'; 'The tool is a floor for honesty and orientation, not a substitute for measurement design'; and the 'Known false-positive mode': the contract checker's arity heuristic 'over-counts on defaulted trailing parameters', and the tool's notes 'say to verify by compiling in exactly this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"25 grammars vendored" — CHANGELOG.md [0.6.2], "### Added — GDScript (`.gd`), the 25th vendored grammar (parser version 108)" (#233, @sclyde).
- Before GDScript: 24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25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25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GDScript · Bash · C# · JSON · TOML · YAML · Markdown — 25 vendored grammars, Astro frontmatter on the TypeScript one;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185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--biggest-first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  --lsp  --max-memory</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185 long flags; docs/COMMANDS.md carries an entry for every one of them, 162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0.6.1 — everything since v0.6.0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0.6.1: it resolves what it names, and says what it cannot prove</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languages that resolve, not just parse</a:t>
            </a:r>
            <a:endParaRPr lang="en-US" sz="1400" dirty="0"/>
          </a:p>
        </p:txBody>
      </p:sp>
      <p:sp>
        <p:nvSpPr>
          <p:cNvPr id="6" name="Text 4"/>
          <p:cNvSpPr/>
          <p:nvPr/>
        </p:nvSpPr>
        <p:spPr>
          <a:xfrm>
            <a:off x="749808" y="2084832"/>
            <a:ext cx="1783080" cy="809244"/>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module · name · arity</a:t>
            </a:r>
            <a:endParaRPr lang="en-US" sz="1300" dirty="0"/>
          </a:p>
        </p:txBody>
      </p:sp>
      <p:sp>
        <p:nvSpPr>
          <p:cNvPr id="7" name="Text 5"/>
          <p:cNvSpPr/>
          <p:nvPr/>
        </p:nvSpPr>
        <p:spPr>
          <a:xfrm>
            <a:off x="2624328" y="208483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Elixir calls resolve to the module, name and arity they name, not by name alone: lexical aliases, filtered imports, default arguments, pipes, captures, delegates. Macro expansion and unquote stay documented limits (@henry-hz, #207)</a:t>
            </a:r>
            <a:endParaRPr lang="en-US" sz="950" dirty="0"/>
          </a:p>
        </p:txBody>
      </p:sp>
      <p:sp>
        <p:nvSpPr>
          <p:cNvPr id="8" name="Text 6"/>
          <p:cNvSpPr/>
          <p:nvPr/>
        </p:nvSpPr>
        <p:spPr>
          <a:xfrm>
            <a:off x="749808" y="2894076"/>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none → 79%</a:t>
            </a:r>
            <a:endParaRPr lang="en-US" sz="1300" dirty="0"/>
          </a:p>
        </p:txBody>
      </p:sp>
      <p:sp>
        <p:nvSpPr>
          <p:cNvPr id="9" name="Text 7"/>
          <p:cNvSpPr/>
          <p:nvPr/>
        </p:nvSpPr>
        <p:spPr>
          <a:xfrm>
            <a:off x="2624328" y="289407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of occurrences matched on spring-petclinic: SCIP encodes a range two ways and ripwire read only the deprecated one, so every scip-java index was silently ignored and --scip changed nothing (@dpunosevac, #198)</a:t>
            </a:r>
            <a:endParaRPr lang="en-US" sz="950" dirty="0"/>
          </a:p>
        </p:txBody>
      </p:sp>
      <p:sp>
        <p:nvSpPr>
          <p:cNvPr id="10" name="Shape 8"/>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1" name="Text 9"/>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it says what it could not prove</a:t>
            </a:r>
            <a:endParaRPr lang="en-US" sz="1400" dirty="0"/>
          </a:p>
        </p:txBody>
      </p:sp>
      <p:sp>
        <p:nvSpPr>
          <p:cNvPr id="12" name="Text 10"/>
          <p:cNvSpPr/>
          <p:nvPr/>
        </p:nvSpPr>
        <p:spPr>
          <a:xfrm>
            <a:off x="6341364" y="2084832"/>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89 of 4,322</a:t>
            </a:r>
            <a:endParaRPr lang="en-US" sz="1300" dirty="0"/>
          </a:p>
        </p:txBody>
      </p:sp>
      <p:sp>
        <p:nvSpPr>
          <p:cNvPr id="13" name="Text 11"/>
          <p:cNvSpPr/>
          <p:nvPr/>
        </p:nvSpPr>
        <p:spPr>
          <a:xfrm>
            <a:off x="8033004"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answers shrank over every file:name selector on ripwire's own tree that selects only declarations — and NONE grew. A header selector kept a definition only when its file is the header or includes it, resolved path-precisely (#173)</a:t>
            </a:r>
            <a:endParaRPr lang="en-US" sz="950" dirty="0"/>
          </a:p>
        </p:txBody>
      </p:sp>
      <p:sp>
        <p:nvSpPr>
          <p:cNvPr id="14" name="Text 12"/>
          <p:cNvSpPr/>
          <p:nvPr/>
        </p:nvSpPr>
        <p:spPr>
          <a:xfrm>
            <a:off x="6341364" y="2624328"/>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nine listing verbs</a:t>
            </a:r>
            <a:endParaRPr lang="en-US" sz="1300" dirty="0"/>
          </a:p>
        </p:txBody>
      </p:sp>
      <p:sp>
        <p:nvSpPr>
          <p:cNvPr id="15" name="Text 13"/>
          <p:cNvSpPr/>
          <p:nvPr/>
        </p:nvSpPr>
        <p:spPr>
          <a:xfrm>
            <a:off x="8033004"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now count what the proof dropped as unproven_defs=; all but two had answered from the declaration alone and printed a clean zero (#190, #195)</a:t>
            </a:r>
            <a:endParaRPr lang="en-US" sz="950" dirty="0"/>
          </a:p>
        </p:txBody>
      </p:sp>
      <p:sp>
        <p:nvSpPr>
          <p:cNvPr id="16" name="Text 14"/>
          <p:cNvSpPr/>
          <p:nvPr/>
        </p:nvSpPr>
        <p:spPr>
          <a:xfrm>
            <a:off x="6341364" y="3163824"/>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not a safe edit</a:t>
            </a:r>
            <a:endParaRPr lang="en-US" sz="1300" dirty="0"/>
          </a:p>
        </p:txBody>
      </p:sp>
      <p:sp>
        <p:nvSpPr>
          <p:cNvPr id="17" name="Text 15"/>
          <p:cNvSpPr/>
          <p:nvPr/>
        </p:nvSpPr>
        <p:spPr>
          <a:xfrm>
            <a:off x="8033004"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 incompatible="0" beside unproven_defs= is now STATED to be an incomplete read, on every verb that resolves a focus symbol, --edit-check included (#210)</a:t>
            </a:r>
            <a:endParaRPr lang="en-US" sz="950" dirty="0"/>
          </a:p>
        </p:txBody>
      </p:sp>
      <p:sp>
        <p:nvSpPr>
          <p:cNvPr id="18" name="Shape 16"/>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19" name="Text 17"/>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every number carries its definition</a:t>
            </a:r>
            <a:endParaRPr lang="en-US" sz="1400" dirty="0"/>
          </a:p>
        </p:txBody>
      </p:sp>
      <p:sp>
        <p:nvSpPr>
          <p:cNvPr id="20" name="Text 18"/>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graph_unindexed=</a:t>
            </a:r>
            <a:endParaRPr lang="en-US" sz="1300" dirty="0"/>
          </a:p>
        </p:txBody>
      </p:sp>
      <p:sp>
        <p:nvSpPr>
          <p:cNvPr id="21" name="Text 19"/>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shipped in 0.6.0 with no definition on three verbs, and under a compact legend on every XML verb but one (#169)</a:t>
            </a:r>
            <a:endParaRPr lang="en-US" sz="950" dirty="0"/>
          </a:p>
        </p:txBody>
      </p:sp>
      <p:sp>
        <p:nvSpPr>
          <p:cNvPr id="22" name="Text 20"/>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and eight more</a:t>
            </a:r>
            <a:endParaRPr lang="en-US" sz="1300" dirty="0"/>
          </a:p>
        </p:txBody>
      </p:sp>
      <p:sp>
        <p:nvSpPr>
          <p:cNvPr id="23" name="Text 21"/>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declined_calls=, unproven_defs=, pr_iters=, the map header's counts, --impact's blast-radius counts, --safe-delete's verdict fields and the community structure counts: each defined now (#185, #189, #203)</a:t>
            </a:r>
            <a:endParaRPr lang="en-US" sz="950" dirty="0"/>
          </a:p>
        </p:txBody>
      </p:sp>
      <p:sp>
        <p:nvSpPr>
          <p:cNvPr id="24" name="Text 22"/>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pins follow prose</a:t>
            </a:r>
            <a:endParaRPr lang="en-US" sz="1300" dirty="0"/>
          </a:p>
        </p:txBody>
      </p:sp>
      <p:sp>
        <p:nvSpPr>
          <p:cNvPr id="25" name="Text 23"/>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compact byte pins now follow the definitions, instead of a definition being trimmed to fit one pin; a budgeted --for that drops legend clauses NAMES the attributes it dropped (#174)</a:t>
            </a:r>
            <a:endParaRPr lang="en-US" sz="950" dirty="0"/>
          </a:p>
        </p:txBody>
      </p:sp>
      <p:sp>
        <p:nvSpPr>
          <p:cNvPr id="26" name="Shape 24"/>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7" name="Text 25"/>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it fits in memory at llvm scale</a:t>
            </a:r>
            <a:endParaRPr lang="en-US" sz="1400" dirty="0"/>
          </a:p>
        </p:txBody>
      </p:sp>
      <p:sp>
        <p:nvSpPr>
          <p:cNvPr id="28" name="Text 26"/>
          <p:cNvSpPr/>
          <p:nvPr/>
        </p:nvSpPr>
        <p:spPr>
          <a:xfrm>
            <a:off x="6341364" y="4416552"/>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114 MB → 368 KB</a:t>
            </a:r>
            <a:endParaRPr lang="en-US" sz="1300" dirty="0"/>
          </a:p>
        </p:txBody>
      </p:sp>
      <p:sp>
        <p:nvSpPr>
          <p:cNvPr id="29" name="Text 27"/>
          <p:cNvSpPr/>
          <p:nvPr/>
        </p:nvSpPr>
        <p:spPr>
          <a:xfrm>
            <a:off x="8215884" y="441655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declined-call index on llvm-project. Candidate lists were stored once per call, so the structure grew with calls x candidates: 27.9 M entries. One copy per DISTINCT list makes it 9,879 lists and 62,359 entries (#208)</a:t>
            </a:r>
            <a:endParaRPr lang="en-US" sz="950" dirty="0"/>
          </a:p>
        </p:txBody>
      </p:sp>
      <p:sp>
        <p:nvSpPr>
          <p:cNvPr id="30" name="Text 28"/>
          <p:cNvSpPr/>
          <p:nvPr/>
        </p:nvSpPr>
        <p:spPr>
          <a:xfrm>
            <a:off x="6341364" y="5225796"/>
            <a:ext cx="1783080" cy="809244"/>
          </a:xfrm>
          <a:prstGeom prst="rect">
            <a:avLst/>
          </a:prstGeom>
          <a:noFill/>
          <a:ln/>
        </p:spPr>
        <p:txBody>
          <a:bodyPr wrap="square" lIns="0" tIns="0" rIns="0" bIns="0" rtlCol="0" anchor="ctr"/>
          <a:lstStyle/>
          <a:p>
            <a:pPr indent="0" marL="0">
              <a:buNone/>
            </a:pPr>
            <a:r>
              <a:rPr lang="en-US" sz="1300" b="1" dirty="0">
                <a:solidFill>
                  <a:srgbClr val="8B95A5"/>
                </a:solidFill>
                <a:latin typeface="Courier New" pitchFamily="34" charset="0"/>
                <a:ea typeface="Courier New" pitchFamily="34" charset="-122"/>
                <a:cs typeface="Courier New" pitchFamily="34" charset="-120"/>
              </a:rPr>
              <a:t>every byte the same</a:t>
            </a:r>
            <a:endParaRPr lang="en-US" sz="1300" dirty="0"/>
          </a:p>
        </p:txBody>
      </p:sp>
      <p:sp>
        <p:nvSpPr>
          <p:cNvPr id="31" name="Text 29"/>
          <p:cNvSpPr/>
          <p:nvPr/>
        </p:nvSpPr>
        <p:spPr>
          <a:xfrm>
            <a:off x="8215884" y="522579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counts and output are unchanged by that change — the win is the structure, not the answer (#208)</a:t>
            </a:r>
            <a:endParaRPr lang="en-US" sz="95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release ran against instruments registered before the work began: a frozen bank of 30 retrieval questions answered in ONE call on a 2,066-file corpus pinned at one commit, a six-step follow-up ladder with no model in the loop, and a separately registered held-out draw so a round cannot be tuned onto the bank it is graded 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since v0.6.1 (2026-09-14): 0.6.2–0.6.5 and main; each row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Since 0.6.1: more places it runs, more code it answers for</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where and how it runs</a:t>
            </a:r>
            <a:endParaRPr lang="en-US" sz="1400" dirty="0"/>
          </a:p>
        </p:txBody>
      </p:sp>
      <p:sp>
        <p:nvSpPr>
          <p:cNvPr id="6" name="Text 4"/>
          <p:cNvSpPr/>
          <p:nvPr/>
        </p:nvSpPr>
        <p:spPr>
          <a:xfrm>
            <a:off x="749808" y="2084832"/>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Windows x64</a:t>
            </a:r>
            <a:endParaRPr lang="en-US" sz="1300" dirty="0"/>
          </a:p>
        </p:txBody>
      </p:sp>
      <p:sp>
        <p:nvSpPr>
          <p:cNvPr id="7" name="Text 5"/>
          <p:cNvSpPr/>
          <p:nvPr/>
        </p:nvSpPr>
        <p:spPr>
          <a:xfrm>
            <a:off x="2441448"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builds under clang-cl and MSVC cl.exe; a release zip ships as a preview. The gate suite does not run there yet (@lennix1337, #44)</a:t>
            </a:r>
            <a:endParaRPr lang="en-US" sz="950" dirty="0"/>
          </a:p>
        </p:txBody>
      </p:sp>
      <p:sp>
        <p:nvSpPr>
          <p:cNvPr id="8" name="Text 6"/>
          <p:cNvSpPr/>
          <p:nvPr/>
        </p:nvSpPr>
        <p:spPr>
          <a:xfrm>
            <a:off x="749808" y="2624328"/>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--lsp</a:t>
            </a:r>
            <a:endParaRPr lang="en-US" sz="1300" dirty="0"/>
          </a:p>
        </p:txBody>
      </p:sp>
      <p:sp>
        <p:nvSpPr>
          <p:cNvPr id="9" name="Text 7"/>
          <p:cNvSpPr/>
          <p:nvPr/>
        </p:nvSpPr>
        <p:spPr>
          <a:xfrm>
            <a:off x="2441448"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read-only navigation LSP server over stdio: definition, references, document and workspace symbols, hover (@mpapis)</a:t>
            </a:r>
            <a:endParaRPr lang="en-US" sz="950" dirty="0"/>
          </a:p>
        </p:txBody>
      </p:sp>
      <p:sp>
        <p:nvSpPr>
          <p:cNvPr id="10" name="Text 8"/>
          <p:cNvSpPr/>
          <p:nvPr/>
        </p:nvSpPr>
        <p:spPr>
          <a:xfrm>
            <a:off x="749808" y="3163824"/>
            <a:ext cx="160020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65% · exit 5</a:t>
            </a:r>
            <a:endParaRPr lang="en-US" sz="1300" dirty="0"/>
          </a:p>
        </p:txBody>
      </p:sp>
      <p:sp>
        <p:nvSpPr>
          <p:cNvPr id="11" name="Text 9"/>
          <p:cNvSpPr/>
          <p:nvPr/>
        </p:nvSpPr>
        <p:spPr>
          <a:xfrm>
            <a:off x="2441448"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zero-config memory guard: past 65% of RAM or the cgroup limit, a disclosed partial map or exit 5, not a swap storm; --max-memory moves the line (#350)</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better answers</a:t>
            </a:r>
            <a:endParaRPr lang="en-US" sz="1400" dirty="0"/>
          </a:p>
        </p:txBody>
      </p:sp>
      <p:sp>
        <p:nvSpPr>
          <p:cNvPr id="14" name="Text 12"/>
          <p:cNvSpPr/>
          <p:nvPr/>
        </p:nvSpPr>
        <p:spPr>
          <a:xfrm>
            <a:off x="6341364" y="2084832"/>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63 → 2,083</a:t>
            </a:r>
            <a:endParaRPr lang="en-US" sz="1300" dirty="0"/>
          </a:p>
        </p:txBody>
      </p:sp>
      <p:sp>
        <p:nvSpPr>
          <p:cNvPr id="15" name="Text 13"/>
          <p:cNvSpPr/>
          <p:nvPr/>
        </p:nvSpPr>
        <p:spPr>
          <a:xfrm>
            <a:off x="8215884" y="2084832"/>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functions --quality-panel measures on a 583-file TypeScript repo: a name bound to an arrow or function literal now owns its body (JS, TS, Lua, Python)</a:t>
            </a:r>
            <a:endParaRPr lang="en-US" sz="900" dirty="0"/>
          </a:p>
        </p:txBody>
      </p:sp>
      <p:sp>
        <p:nvSpPr>
          <p:cNvPr id="16" name="Text 14"/>
          <p:cNvSpPr/>
          <p:nvPr/>
        </p:nvSpPr>
        <p:spPr>
          <a:xfrm>
            <a:off x="6341364" y="2489454"/>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one row per def</a:t>
            </a:r>
            <a:endParaRPr lang="en-US" sz="1300" dirty="0"/>
          </a:p>
        </p:txBody>
      </p:sp>
      <p:sp>
        <p:nvSpPr>
          <p:cNvPr id="17" name="Text 15"/>
          <p:cNvSpPr/>
          <p:nvPr/>
        </p:nvSpPr>
        <p:spPr>
          <a:xfrm>
            <a:off x="8215884" y="2489454"/>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--metrics: overloads and #ifdef twins each get their own row and metrics, instead of sharing one body's</a:t>
            </a:r>
            <a:endParaRPr lang="en-US" sz="900" dirty="0"/>
          </a:p>
        </p:txBody>
      </p:sp>
      <p:sp>
        <p:nvSpPr>
          <p:cNvPr id="18" name="Text 16"/>
          <p:cNvSpPr/>
          <p:nvPr/>
        </p:nvSpPr>
        <p:spPr>
          <a:xfrm>
            <a:off x="6341364" y="2894076"/>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Ruby, from the community</a:t>
            </a:r>
            <a:endParaRPr lang="en-US" sz="1300" dirty="0"/>
          </a:p>
        </p:txBody>
      </p:sp>
      <p:sp>
        <p:nvSpPr>
          <p:cNvPr id="19" name="Text 17"/>
          <p:cNvSpPr/>
          <p:nvPr/>
        </p:nvSpPr>
        <p:spPr>
          <a:xfrm>
            <a:off x="8215884" y="2894076"/>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class Child &lt; Parent is an edge, so --lego answers for Ruby (#325); RSpec's described_class pins to the class under test (#338), @andriytyurnikov</a:t>
            </a:r>
            <a:endParaRPr lang="en-US" sz="900" dirty="0"/>
          </a:p>
        </p:txBody>
      </p:sp>
      <p:sp>
        <p:nvSpPr>
          <p:cNvPr id="20" name="Text 18"/>
          <p:cNvSpPr/>
          <p:nvPr/>
        </p:nvSpPr>
        <p:spPr>
          <a:xfrm>
            <a:off x="6341364" y="3298698"/>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72.8% of vue-core</a:t>
            </a:r>
            <a:endParaRPr lang="en-US" sz="1300" dirty="0"/>
          </a:p>
        </p:txBody>
      </p:sp>
      <p:sp>
        <p:nvSpPr>
          <p:cNvPr id="21" name="Text 19"/>
          <p:cNvSpPr/>
          <p:nvPr/>
        </p:nvSpPr>
        <p:spPr>
          <a:xfrm>
            <a:off x="8215884" y="3298698"/>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call sites had no caller, measured before the fix: a call outside every named function now has a module-scope owner (#60)</a:t>
            </a:r>
            <a:endParaRPr lang="en-US" sz="900" dirty="0"/>
          </a:p>
        </p:txBody>
      </p:sp>
      <p:sp>
        <p:nvSpPr>
          <p:cNvPr id="22" name="Shape 20"/>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3" name="Text 21"/>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answers</a:t>
            </a:r>
            <a:endParaRPr lang="en-US" sz="1400" dirty="0"/>
          </a:p>
        </p:txBody>
      </p:sp>
      <p:sp>
        <p:nvSpPr>
          <p:cNvPr id="24" name="Text 22"/>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rank, then cut</a:t>
            </a:r>
            <a:endParaRPr lang="en-US" sz="1300" dirty="0"/>
          </a:p>
        </p:txBody>
      </p:sp>
      <p:sp>
        <p:nvSpPr>
          <p:cNvPr id="25" name="Text 23"/>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capped verbs keep their strongest rows and name what they dropped (0.6.3); three answers that cut silently now say what they left out</a:t>
            </a:r>
            <a:endParaRPr lang="en-US" sz="950" dirty="0"/>
          </a:p>
        </p:txBody>
      </p:sp>
      <p:sp>
        <p:nvSpPr>
          <p:cNvPr id="26" name="Text 24"/>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shallow="1"</a:t>
            </a:r>
            <a:endParaRPr lang="en-US" sz="1300" dirty="0"/>
          </a:p>
        </p:txBody>
      </p:sp>
      <p:sp>
        <p:nvSpPr>
          <p:cNvPr id="27" name="Text 25"/>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on a depth-1 clone, the CI checkout default, the history verbs say the history is shallow instead of calling the boundary commit a root</a:t>
            </a:r>
            <a:endParaRPr lang="en-US" sz="950" dirty="0"/>
          </a:p>
        </p:txBody>
      </p:sp>
      <p:sp>
        <p:nvSpPr>
          <p:cNvPr id="28" name="Text 26"/>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five false answers</a:t>
            </a:r>
            <a:endParaRPr lang="en-US" sz="1300" dirty="0"/>
          </a:p>
        </p:txBody>
      </p:sp>
      <p:sp>
        <p:nvSpPr>
          <p:cNvPr id="29" name="Text 27"/>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--flags, --doc-drift, --from-trace, --connect and --dead-code each answered falsely on a real repository; each is fixed</a:t>
            </a:r>
            <a:endParaRPr lang="en-US" sz="950" dirty="0"/>
          </a:p>
        </p:txBody>
      </p:sp>
      <p:sp>
        <p:nvSpPr>
          <p:cNvPr id="30" name="Shape 28"/>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31" name="Text 29"/>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quality you can act on</a:t>
            </a:r>
            <a:endParaRPr lang="en-US" sz="1400" dirty="0"/>
          </a:p>
        </p:txBody>
      </p:sp>
      <p:sp>
        <p:nvSpPr>
          <p:cNvPr id="32" name="Text 30"/>
          <p:cNvSpPr/>
          <p:nvPr/>
        </p:nvSpPr>
        <p:spPr>
          <a:xfrm>
            <a:off x="6341364" y="4416552"/>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placeholder</a:t>
            </a:r>
            <a:endParaRPr lang="en-US" sz="1300" dirty="0"/>
          </a:p>
        </p:txBody>
      </p:sp>
      <p:sp>
        <p:nvSpPr>
          <p:cNvPr id="33" name="Text 31"/>
          <p:cNvSpPr/>
          <p:nvPr/>
        </p:nvSpPr>
        <p:spPr>
          <a:xfrm>
            <a:off x="8033004" y="441655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11th --quality-delta kind: the stubs and TODOs a change adds, per symbol. It lists them and never gates</a:t>
            </a:r>
            <a:endParaRPr lang="en-US" sz="950" dirty="0"/>
          </a:p>
        </p:txBody>
      </p:sp>
      <p:sp>
        <p:nvSpPr>
          <p:cNvPr id="34" name="Text 32"/>
          <p:cNvSpPr/>
          <p:nvPr/>
        </p:nvSpPr>
        <p:spPr>
          <a:xfrm>
            <a:off x="6341364" y="4956048"/>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 hop depth</a:t>
            </a:r>
            <a:endParaRPr lang="en-US" sz="1300" dirty="0"/>
          </a:p>
        </p:txBody>
      </p:sp>
      <p:sp>
        <p:nvSpPr>
          <p:cNvPr id="35" name="Text 33"/>
          <p:cNvSpPr/>
          <p:nvPr/>
        </p:nvSpPr>
        <p:spPr>
          <a:xfrm>
            <a:off x="8033004" y="495604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--impact lists the blast radius nearest first, so a cut page drops the deepest rows first; by_depth= says where it stopped</a:t>
            </a:r>
            <a:endParaRPr lang="en-US" sz="950" dirty="0"/>
          </a:p>
        </p:txBody>
      </p:sp>
      <p:sp>
        <p:nvSpPr>
          <p:cNvPr id="36" name="Text 34"/>
          <p:cNvSpPr/>
          <p:nvPr/>
        </p:nvSpPr>
        <p:spPr>
          <a:xfrm>
            <a:off x="6341364" y="5495544"/>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--mcp-tools</a:t>
            </a:r>
            <a:endParaRPr lang="en-US" sz="1300" dirty="0"/>
          </a:p>
        </p:txBody>
      </p:sp>
      <p:sp>
        <p:nvSpPr>
          <p:cNvPr id="37" name="Text 35"/>
          <p:cNvSpPr/>
          <p:nvPr/>
        </p:nvSpPr>
        <p:spPr>
          <a:xfrm>
            <a:off x="8033004" y="549554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MCP server lists only the tools you name, or a core profile of 8; the full 33 stay the default, byte for byte</a:t>
            </a:r>
            <a:endParaRPr lang="en-US" sz="950" dirty="0"/>
          </a:p>
        </p:txBody>
      </p:sp>
      <p:sp>
        <p:nvSpPr>
          <p:cNvPr id="38" name="Text 3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parser 129 · cache 27 — a cached index from an earlier build re-indexes once on first use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count="7"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n="getIndex"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files=189 symbols=8020 edges=23968 ambiguous=8947 unresolved=1956 declined=7418.</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660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16 libFuzzer targets over its own readers of bytes it did not create; ThreadSanitizer nightly on main;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660</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opencode · openclaw · hermes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33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17 read verbs mirroring the CLI, 13 flagship reflexes (impact, uses, affected,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in the field: one engagement, the agent's own report, an older version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it did for an orchestrated fleet of coding agents</a:t>
            </a:r>
            <a:endParaRPr lang="en-US" sz="3200" dirty="0"/>
          </a:p>
        </p:txBody>
      </p:sp>
      <p:sp>
        <p:nvSpPr>
          <p:cNvPr id="4" name="Shape 2"/>
          <p:cNvSpPr/>
          <p:nvPr/>
        </p:nvSpPr>
        <p:spPr>
          <a:xfrm>
            <a:off x="566928" y="1600200"/>
            <a:ext cx="3599688" cy="2697480"/>
          </a:xfrm>
          <a:prstGeom prst="roundRect">
            <a:avLst>
              <a:gd name="adj" fmla="val 3051"/>
            </a:avLst>
          </a:prstGeom>
          <a:solidFill>
            <a:srgbClr val="161D28"/>
          </a:solidFill>
          <a:ln w="9525">
            <a:solidFill>
              <a:srgbClr val="232D3D"/>
            </a:solidFill>
            <a:prstDash val="solid"/>
          </a:ln>
        </p:spPr>
      </p:sp>
      <p:sp>
        <p:nvSpPr>
          <p:cNvPr id="5" name="Text 3"/>
          <p:cNvSpPr/>
          <p:nvPr/>
        </p:nvSpPr>
        <p:spPr>
          <a:xfrm>
            <a:off x="749808" y="1728216"/>
            <a:ext cx="3233928"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--callers</a:t>
            </a:r>
            <a:endParaRPr lang="en-US" sz="1250" dirty="0"/>
          </a:p>
        </p:txBody>
      </p:sp>
      <p:sp>
        <p:nvSpPr>
          <p:cNvPr id="6" name="Text 4"/>
          <p:cNvSpPr/>
          <p:nvPr/>
        </p:nvSpPr>
        <p:spPr>
          <a:xfrm>
            <a:off x="749808" y="2039112"/>
            <a:ext cx="3233928" cy="457200"/>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call redirected a task</a:t>
            </a:r>
            <a:endParaRPr lang="en-US" sz="1600" dirty="0"/>
          </a:p>
        </p:txBody>
      </p:sp>
      <p:sp>
        <p:nvSpPr>
          <p:cNvPr id="7" name="Text 5"/>
          <p:cNvSpPr/>
          <p:nvPr/>
        </p:nvSpPr>
        <p:spPr>
          <a:xfrm>
            <a:off x="749808" y="2551176"/>
            <a:ext cx="3233928" cy="1645920"/>
          </a:xfrm>
          <a:prstGeom prst="rect">
            <a:avLst/>
          </a:prstGeom>
          <a:noFill/>
          <a:ln/>
        </p:spPr>
        <p:txBody>
          <a:bodyPr wrap="square" lIns="0" tIns="0" rIns="0" bIns="0" rtlCol="0" anchor="t"/>
          <a:lstStyle/>
          <a:p>
            <a:pPr indent="0" marL="0">
              <a:buNone/>
            </a:pPr>
            <a:r>
              <a:rPr lang="en-US" sz="1150" dirty="0">
                <a:solidFill>
                  <a:srgbClr val="8B95A5"/>
                </a:solidFill>
                <a:latin typeface="Arial" pitchFamily="34" charset="0"/>
                <a:ea typeface="Arial" pitchFamily="34" charset="-122"/>
                <a:cs typeface="Arial" pitchFamily="34" charset="-120"/>
              </a:rPr>
              <a:t>A task was chartered to switch on a behaviour the team believed was live. One --callers call showed it had no production caller, and the task moved to the real gap: the data it needed had never been wired.</a:t>
            </a:r>
            <a:endParaRPr lang="en-US" sz="1150" dirty="0"/>
          </a:p>
        </p:txBody>
      </p:sp>
      <p:sp>
        <p:nvSpPr>
          <p:cNvPr id="8" name="Shape 6"/>
          <p:cNvSpPr/>
          <p:nvPr/>
        </p:nvSpPr>
        <p:spPr>
          <a:xfrm>
            <a:off x="4294632" y="1600200"/>
            <a:ext cx="3599688" cy="2697480"/>
          </a:xfrm>
          <a:prstGeom prst="roundRect">
            <a:avLst>
              <a:gd name="adj" fmla="val 3051"/>
            </a:avLst>
          </a:prstGeom>
          <a:solidFill>
            <a:srgbClr val="161D28"/>
          </a:solidFill>
          <a:ln w="9525">
            <a:solidFill>
              <a:srgbClr val="232D3D"/>
            </a:solidFill>
            <a:prstDash val="solid"/>
          </a:ln>
        </p:spPr>
      </p:sp>
      <p:sp>
        <p:nvSpPr>
          <p:cNvPr id="9" name="Text 7"/>
          <p:cNvSpPr/>
          <p:nvPr/>
        </p:nvSpPr>
        <p:spPr>
          <a:xfrm>
            <a:off x="4477512" y="1728216"/>
            <a:ext cx="3233928"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--edit-check</a:t>
            </a:r>
            <a:endParaRPr lang="en-US" sz="1250" dirty="0"/>
          </a:p>
        </p:txBody>
      </p:sp>
      <p:sp>
        <p:nvSpPr>
          <p:cNvPr id="10" name="Text 8"/>
          <p:cNvSpPr/>
          <p:nvPr/>
        </p:nvSpPr>
        <p:spPr>
          <a:xfrm>
            <a:off x="4477512" y="2039112"/>
            <a:ext cx="3233928" cy="457200"/>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silent divergence, caught early</a:t>
            </a:r>
            <a:endParaRPr lang="en-US" sz="1600" dirty="0"/>
          </a:p>
        </p:txBody>
      </p:sp>
      <p:sp>
        <p:nvSpPr>
          <p:cNvPr id="11" name="Text 9"/>
          <p:cNvSpPr/>
          <p:nvPr/>
        </p:nvSpPr>
        <p:spPr>
          <a:xfrm>
            <a:off x="4477512" y="2551176"/>
            <a:ext cx="3233928" cy="1645920"/>
          </a:xfrm>
          <a:prstGeom prst="rect">
            <a:avLst/>
          </a:prstGeom>
          <a:noFill/>
          <a:ln/>
        </p:spPr>
        <p:txBody>
          <a:bodyPr wrap="square" lIns="0" tIns="0" rIns="0" bIns="0" rtlCol="0" anchor="t"/>
          <a:lstStyle/>
          <a:p>
            <a:pPr indent="0" marL="0">
              <a:buNone/>
            </a:pPr>
            <a:r>
              <a:rPr lang="en-US" sz="1150" dirty="0">
                <a:solidFill>
                  <a:srgbClr val="8B95A5"/>
                </a:solidFill>
                <a:latin typeface="Arial" pitchFamily="34" charset="0"/>
                <a:ea typeface="Arial" pitchFamily="34" charset="-122"/>
                <a:cs typeface="Arial" pitchFamily="34" charset="-120"/>
              </a:rPr>
              <a:t>A widely shared computation was refactored. --edit-check flagged incompatible call sites that a text search had missed; left alone, they would have drifted from the canonical path the day the feature was enabled.</a:t>
            </a:r>
            <a:endParaRPr lang="en-US" sz="1150" dirty="0"/>
          </a:p>
        </p:txBody>
      </p:sp>
      <p:sp>
        <p:nvSpPr>
          <p:cNvPr id="12" name="Shape 10"/>
          <p:cNvSpPr/>
          <p:nvPr/>
        </p:nvSpPr>
        <p:spPr>
          <a:xfrm>
            <a:off x="8022336" y="1600200"/>
            <a:ext cx="3599688" cy="2697480"/>
          </a:xfrm>
          <a:prstGeom prst="roundRect">
            <a:avLst>
              <a:gd name="adj" fmla="val 3051"/>
            </a:avLst>
          </a:prstGeom>
          <a:solidFill>
            <a:srgbClr val="161D28"/>
          </a:solidFill>
          <a:ln w="9525">
            <a:solidFill>
              <a:srgbClr val="232D3D"/>
            </a:solidFill>
            <a:prstDash val="solid"/>
          </a:ln>
        </p:spPr>
      </p:sp>
      <p:sp>
        <p:nvSpPr>
          <p:cNvPr id="13" name="Text 11"/>
          <p:cNvSpPr/>
          <p:nvPr/>
        </p:nvSpPr>
        <p:spPr>
          <a:xfrm>
            <a:off x="8205216" y="1728216"/>
            <a:ext cx="3233928"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--quality-delta</a:t>
            </a:r>
            <a:endParaRPr lang="en-US" sz="1250" dirty="0"/>
          </a:p>
        </p:txBody>
      </p:sp>
      <p:sp>
        <p:nvSpPr>
          <p:cNvPr id="14" name="Text 12"/>
          <p:cNvSpPr/>
          <p:nvPr/>
        </p:nvSpPr>
        <p:spPr>
          <a:xfrm>
            <a:off x="8205216" y="2039112"/>
            <a:ext cx="3233928" cy="457200"/>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quality became a protocol</a:t>
            </a:r>
            <a:endParaRPr lang="en-US" sz="1600" dirty="0"/>
          </a:p>
        </p:txBody>
      </p:sp>
      <p:sp>
        <p:nvSpPr>
          <p:cNvPr id="15" name="Text 13"/>
          <p:cNvSpPr/>
          <p:nvPr/>
        </p:nvSpPr>
        <p:spPr>
          <a:xfrm>
            <a:off x="8205216" y="2551176"/>
            <a:ext cx="3233928" cy="1645920"/>
          </a:xfrm>
          <a:prstGeom prst="rect">
            <a:avLst/>
          </a:prstGeom>
          <a:noFill/>
          <a:ln/>
        </p:spPr>
        <p:txBody>
          <a:bodyPr wrap="square" lIns="0" tIns="0" rIns="0" bIns="0" rtlCol="0" anchor="t"/>
          <a:lstStyle/>
          <a:p>
            <a:pPr indent="0" marL="0">
              <a:buNone/>
            </a:pPr>
            <a:r>
              <a:rPr lang="en-US" sz="1150" dirty="0">
                <a:solidFill>
                  <a:srgbClr val="8B95A5"/>
                </a:solidFill>
                <a:latin typeface="Arial" pitchFamily="34" charset="0"/>
                <a:ea typeface="Arial" pitchFamily="34" charset="-122"/>
                <a:cs typeface="Arial" pitchFamily="34" charset="-120"/>
              </a:rPr>
              <a:t>Run at each agent's "done", it made fix-or-justify the habit of agents that shared no context. Duplicated routines and near-identical twins were fixed, not waived.</a:t>
            </a:r>
            <a:endParaRPr lang="en-US" sz="1150" dirty="0"/>
          </a:p>
        </p:txBody>
      </p:sp>
      <p:sp>
        <p:nvSpPr>
          <p:cNvPr id="16" name="Shape 14"/>
          <p:cNvSpPr/>
          <p:nvPr/>
        </p:nvSpPr>
        <p:spPr>
          <a:xfrm>
            <a:off x="566928" y="4480560"/>
            <a:ext cx="11055096" cy="1481328"/>
          </a:xfrm>
          <a:prstGeom prst="roundRect">
            <a:avLst>
              <a:gd name="adj" fmla="val 5556"/>
            </a:avLst>
          </a:prstGeom>
          <a:solidFill>
            <a:srgbClr val="1F1B13"/>
          </a:solidFill>
          <a:ln w="19050">
            <a:solidFill>
              <a:srgbClr val="F2B84B"/>
            </a:solidFill>
            <a:prstDash val="solid"/>
          </a:ln>
        </p:spPr>
      </p:sp>
      <p:sp>
        <p:nvSpPr>
          <p:cNvPr id="17" name="Text 15"/>
          <p:cNvSpPr/>
          <p:nvPr/>
        </p:nvSpPr>
        <p:spPr>
          <a:xfrm>
            <a:off x="841248" y="4608576"/>
            <a:ext cx="10515600" cy="292608"/>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honest boundary, from the same report</a:t>
            </a:r>
            <a:endParaRPr lang="en-US" sz="1250" dirty="0"/>
          </a:p>
        </p:txBody>
      </p:sp>
      <p:sp>
        <p:nvSpPr>
          <p:cNvPr id="18" name="Text 16"/>
          <p:cNvSpPr/>
          <p:nvPr/>
        </p:nvSpPr>
        <p:spPr>
          <a:xfrm>
            <a:off x="841248" y="4937760"/>
            <a:ext cx="10515600" cy="932688"/>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The deepest findings did not come from the tool. </a:t>
            </a:r>
            <a:pPr indent="0" marL="0">
              <a:buNone/>
            </a:pPr>
            <a:r>
              <a:rPr lang="en-US" sz="1200" dirty="0">
                <a:solidFill>
                  <a:srgbClr val="8B95A5"/>
                </a:solidFill>
                <a:latin typeface="Arial" pitchFamily="34" charset="0"/>
                <a:ea typeface="Arial" pitchFamily="34" charset="-122"/>
                <a:cs typeface="Arial" pitchFamily="34" charset="-120"/>
              </a:rPr>
              <a:t>They came from measurement the agents built themselves: worktree diffs, attribution sweeps, funnels. The tool was a floor for orientation and honesty, not a substitute for measurement design. And one known false-positive mode: --edit-check's arity heuristic over-counts where trailing parameters have defaults, and compiling settles it, as its own notes say.</a:t>
            </a:r>
            <a:endParaRPr lang="en-US" sz="12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 README.md field report (#361) · one engagement · the agent's own report · an older version · testimony, not measurement</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+ 71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25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185 long flags · 36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660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71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2026-10-03T12:28:18Z</dcterms:created>
  <dcterms:modified xsi:type="dcterms:W3CDTF">2026-10-03T12:28:18Z</dcterms:modified>
</cp:coreProperties>
</file>